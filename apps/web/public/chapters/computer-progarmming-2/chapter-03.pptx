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349" r:id="rId3"/>
    <p:sldId id="346" r:id="rId4"/>
    <p:sldId id="333" r:id="rId5"/>
    <p:sldId id="336" r:id="rId6"/>
    <p:sldId id="327" r:id="rId7"/>
    <p:sldId id="314" r:id="rId8"/>
    <p:sldId id="315" r:id="rId9"/>
    <p:sldId id="350" r:id="rId10"/>
    <p:sldId id="319" r:id="rId11"/>
    <p:sldId id="320" r:id="rId12"/>
    <p:sldId id="352" r:id="rId13"/>
    <p:sldId id="321" r:id="rId14"/>
    <p:sldId id="322" r:id="rId15"/>
    <p:sldId id="323" r:id="rId16"/>
    <p:sldId id="324" r:id="rId17"/>
    <p:sldId id="325" r:id="rId18"/>
    <p:sldId id="326" r:id="rId19"/>
    <p:sldId id="351" r:id="rId20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1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atullah Awwad" userId="c074c6c3-03d1-4489-bec5-99bcd2df8d14" providerId="ADAL" clId="{5042F350-EEC0-4F45-8025-827E7905C01A}"/>
    <pc:docChg chg="undo custSel addSld delSld modSld sldOrd">
      <pc:chgData name="Hebatullah Awwad" userId="c074c6c3-03d1-4489-bec5-99bcd2df8d14" providerId="ADAL" clId="{5042F350-EEC0-4F45-8025-827E7905C01A}" dt="2024-03-19T11:50:21.204" v="754" actId="1036"/>
      <pc:docMkLst>
        <pc:docMk/>
      </pc:docMkLst>
      <pc:sldChg chg="addSp modSp mod">
        <pc:chgData name="Hebatullah Awwad" userId="c074c6c3-03d1-4489-bec5-99bcd2df8d14" providerId="ADAL" clId="{5042F350-EEC0-4F45-8025-827E7905C01A}" dt="2024-03-19T10:20:18.780" v="25" actId="1076"/>
        <pc:sldMkLst>
          <pc:docMk/>
          <pc:sldMk cId="0" sldId="314"/>
        </pc:sldMkLst>
        <pc:spChg chg="mod">
          <ac:chgData name="Hebatullah Awwad" userId="c074c6c3-03d1-4489-bec5-99bcd2df8d14" providerId="ADAL" clId="{5042F350-EEC0-4F45-8025-827E7905C01A}" dt="2024-03-19T10:20:04.919" v="23" actId="255"/>
          <ac:spMkLst>
            <pc:docMk/>
            <pc:sldMk cId="0" sldId="314"/>
            <ac:spMk id="4" creationId="{987163A6-E003-8125-51E8-F536A2E43F14}"/>
          </ac:spMkLst>
        </pc:spChg>
        <pc:spChg chg="mod">
          <ac:chgData name="Hebatullah Awwad" userId="c074c6c3-03d1-4489-bec5-99bcd2df8d14" providerId="ADAL" clId="{5042F350-EEC0-4F45-8025-827E7905C01A}" dt="2024-03-19T10:20:04.919" v="23" actId="255"/>
          <ac:spMkLst>
            <pc:docMk/>
            <pc:sldMk cId="0" sldId="314"/>
            <ac:spMk id="10" creationId="{A7B22AF6-C8E6-F2D6-C012-97012CCD35A9}"/>
          </ac:spMkLst>
        </pc:spChg>
        <pc:spChg chg="mod">
          <ac:chgData name="Hebatullah Awwad" userId="c074c6c3-03d1-4489-bec5-99bcd2df8d14" providerId="ADAL" clId="{5042F350-EEC0-4F45-8025-827E7905C01A}" dt="2024-03-19T10:20:04.919" v="23" actId="255"/>
          <ac:spMkLst>
            <pc:docMk/>
            <pc:sldMk cId="0" sldId="314"/>
            <ac:spMk id="12" creationId="{4119FD38-1850-4B94-971C-D7296E143658}"/>
          </ac:spMkLst>
        </pc:spChg>
        <pc:grpChg chg="add mod">
          <ac:chgData name="Hebatullah Awwad" userId="c074c6c3-03d1-4489-bec5-99bcd2df8d14" providerId="ADAL" clId="{5042F350-EEC0-4F45-8025-827E7905C01A}" dt="2024-03-19T10:20:18.780" v="25" actId="1076"/>
          <ac:grpSpMkLst>
            <pc:docMk/>
            <pc:sldMk cId="0" sldId="314"/>
            <ac:grpSpMk id="2" creationId="{4F665E39-E534-6AC9-3064-030FEA5C4A06}"/>
          </ac:grpSpMkLst>
        </pc:grpChg>
        <pc:grpChg chg="mod">
          <ac:chgData name="Hebatullah Awwad" userId="c074c6c3-03d1-4489-bec5-99bcd2df8d14" providerId="ADAL" clId="{5042F350-EEC0-4F45-8025-827E7905C01A}" dt="2024-03-19T10:19:30.848" v="18"/>
          <ac:grpSpMkLst>
            <pc:docMk/>
            <pc:sldMk cId="0" sldId="314"/>
            <ac:grpSpMk id="3" creationId="{A6D1B455-BEDE-F681-8F93-1F0F91A4FC5B}"/>
          </ac:grpSpMkLst>
        </pc:grpChg>
        <pc:grpChg chg="mod">
          <ac:chgData name="Hebatullah Awwad" userId="c074c6c3-03d1-4489-bec5-99bcd2df8d14" providerId="ADAL" clId="{5042F350-EEC0-4F45-8025-827E7905C01A}" dt="2024-03-19T10:19:30.848" v="18"/>
          <ac:grpSpMkLst>
            <pc:docMk/>
            <pc:sldMk cId="0" sldId="314"/>
            <ac:grpSpMk id="5" creationId="{CD01041F-0D59-2776-0640-DD6C93AD0CE8}"/>
          </ac:grpSpMkLst>
        </pc:grpChg>
        <pc:grpChg chg="mod">
          <ac:chgData name="Hebatullah Awwad" userId="c074c6c3-03d1-4489-bec5-99bcd2df8d14" providerId="ADAL" clId="{5042F350-EEC0-4F45-8025-827E7905C01A}" dt="2024-03-19T10:19:30.848" v="18"/>
          <ac:grpSpMkLst>
            <pc:docMk/>
            <pc:sldMk cId="0" sldId="314"/>
            <ac:grpSpMk id="7" creationId="{FA32F333-753E-D498-A74B-62DB7DFCC6BC}"/>
          </ac:grpSpMkLst>
        </pc:grpChg>
        <pc:cxnChg chg="mod">
          <ac:chgData name="Hebatullah Awwad" userId="c074c6c3-03d1-4489-bec5-99bcd2df8d14" providerId="ADAL" clId="{5042F350-EEC0-4F45-8025-827E7905C01A}" dt="2024-03-19T10:19:30.848" v="18"/>
          <ac:cxnSpMkLst>
            <pc:docMk/>
            <pc:sldMk cId="0" sldId="314"/>
            <ac:cxnSpMk id="6" creationId="{696539AF-93D2-0A56-2F0D-B47CCC1521DE}"/>
          </ac:cxnSpMkLst>
        </pc:cxnChg>
        <pc:cxnChg chg="mod">
          <ac:chgData name="Hebatullah Awwad" userId="c074c6c3-03d1-4489-bec5-99bcd2df8d14" providerId="ADAL" clId="{5042F350-EEC0-4F45-8025-827E7905C01A}" dt="2024-03-19T10:19:30.848" v="18"/>
          <ac:cxnSpMkLst>
            <pc:docMk/>
            <pc:sldMk cId="0" sldId="314"/>
            <ac:cxnSpMk id="14" creationId="{D2CE316B-5461-70AA-DAE6-035A921900EA}"/>
          </ac:cxnSpMkLst>
        </pc:cxnChg>
      </pc:sldChg>
      <pc:sldChg chg="addSp modSp mod">
        <pc:chgData name="Hebatullah Awwad" userId="c074c6c3-03d1-4489-bec5-99bcd2df8d14" providerId="ADAL" clId="{5042F350-EEC0-4F45-8025-827E7905C01A}" dt="2024-03-19T10:17:49.333" v="17" actId="5793"/>
        <pc:sldMkLst>
          <pc:docMk/>
          <pc:sldMk cId="0" sldId="315"/>
        </pc:sldMkLst>
        <pc:spChg chg="add mod">
          <ac:chgData name="Hebatullah Awwad" userId="c074c6c3-03d1-4489-bec5-99bcd2df8d14" providerId="ADAL" clId="{5042F350-EEC0-4F45-8025-827E7905C01A}" dt="2024-03-19T10:17:06.177" v="11" actId="164"/>
          <ac:spMkLst>
            <pc:docMk/>
            <pc:sldMk cId="0" sldId="315"/>
            <ac:spMk id="9" creationId="{F9604C34-8B03-4107-60ED-834888576372}"/>
          </ac:spMkLst>
        </pc:spChg>
        <pc:spChg chg="mod">
          <ac:chgData name="Hebatullah Awwad" userId="c074c6c3-03d1-4489-bec5-99bcd2df8d14" providerId="ADAL" clId="{5042F350-EEC0-4F45-8025-827E7905C01A}" dt="2024-03-19T10:17:49.333" v="17" actId="5793"/>
          <ac:spMkLst>
            <pc:docMk/>
            <pc:sldMk cId="0" sldId="315"/>
            <ac:spMk id="30" creationId="{00000000-0000-0000-0000-000000000000}"/>
          </ac:spMkLst>
        </pc:spChg>
        <pc:grpChg chg="mod">
          <ac:chgData name="Hebatullah Awwad" userId="c074c6c3-03d1-4489-bec5-99bcd2df8d14" providerId="ADAL" clId="{5042F350-EEC0-4F45-8025-827E7905C01A}" dt="2024-03-19T10:17:06.177" v="11" actId="164"/>
          <ac:grpSpMkLst>
            <pc:docMk/>
            <pc:sldMk cId="0" sldId="315"/>
            <ac:grpSpMk id="6" creationId="{00000000-0000-0000-0000-000000000000}"/>
          </ac:grpSpMkLst>
        </pc:grpChg>
        <pc:grpChg chg="add mod ord">
          <ac:chgData name="Hebatullah Awwad" userId="c074c6c3-03d1-4489-bec5-99bcd2df8d14" providerId="ADAL" clId="{5042F350-EEC0-4F45-8025-827E7905C01A}" dt="2024-03-19T10:17:10.619" v="12" actId="167"/>
          <ac:grpSpMkLst>
            <pc:docMk/>
            <pc:sldMk cId="0" sldId="315"/>
            <ac:grpSpMk id="10" creationId="{8DD83753-CF3D-335E-EF7A-980045077382}"/>
          </ac:grpSpMkLst>
        </pc:grpChg>
      </pc:sldChg>
      <pc:sldChg chg="addSp modSp mod">
        <pc:chgData name="Hebatullah Awwad" userId="c074c6c3-03d1-4489-bec5-99bcd2df8d14" providerId="ADAL" clId="{5042F350-EEC0-4F45-8025-827E7905C01A}" dt="2024-03-19T11:50:21.204" v="754" actId="1036"/>
        <pc:sldMkLst>
          <pc:docMk/>
          <pc:sldMk cId="0" sldId="320"/>
        </pc:sldMkLst>
        <pc:spChg chg="add mod">
          <ac:chgData name="Hebatullah Awwad" userId="c074c6c3-03d1-4489-bec5-99bcd2df8d14" providerId="ADAL" clId="{5042F350-EEC0-4F45-8025-827E7905C01A}" dt="2024-03-19T10:10:25.703" v="9" actId="164"/>
          <ac:spMkLst>
            <pc:docMk/>
            <pc:sldMk cId="0" sldId="320"/>
            <ac:spMk id="2" creationId="{FC011A30-7E54-1272-C953-421F3EDCFE06}"/>
          </ac:spMkLst>
        </pc:spChg>
        <pc:spChg chg="mod">
          <ac:chgData name="Hebatullah Awwad" userId="c074c6c3-03d1-4489-bec5-99bcd2df8d14" providerId="ADAL" clId="{5042F350-EEC0-4F45-8025-827E7905C01A}" dt="2024-03-19T11:50:21.204" v="754" actId="1036"/>
          <ac:spMkLst>
            <pc:docMk/>
            <pc:sldMk cId="0" sldId="320"/>
            <ac:spMk id="30" creationId="{07F20BE2-C93E-2BA4-E7BD-87E0151A3101}"/>
          </ac:spMkLst>
        </pc:spChg>
        <pc:grpChg chg="add mod ord">
          <ac:chgData name="Hebatullah Awwad" userId="c074c6c3-03d1-4489-bec5-99bcd2df8d14" providerId="ADAL" clId="{5042F350-EEC0-4F45-8025-827E7905C01A}" dt="2024-03-19T10:11:02.450" v="10" actId="167"/>
          <ac:grpSpMkLst>
            <pc:docMk/>
            <pc:sldMk cId="0" sldId="320"/>
            <ac:grpSpMk id="4" creationId="{959896F3-F7DF-6962-16B8-F19CB6F6D96E}"/>
          </ac:grpSpMkLst>
        </pc:grpChg>
        <pc:grpChg chg="mod">
          <ac:chgData name="Hebatullah Awwad" userId="c074c6c3-03d1-4489-bec5-99bcd2df8d14" providerId="ADAL" clId="{5042F350-EEC0-4F45-8025-827E7905C01A}" dt="2024-03-19T10:10:25.703" v="9" actId="164"/>
          <ac:grpSpMkLst>
            <pc:docMk/>
            <pc:sldMk cId="0" sldId="320"/>
            <ac:grpSpMk id="9" creationId="{00000000-0000-0000-0000-000000000000}"/>
          </ac:grpSpMkLst>
        </pc:grpChg>
      </pc:sldChg>
      <pc:sldChg chg="modSp mod">
        <pc:chgData name="Hebatullah Awwad" userId="c074c6c3-03d1-4489-bec5-99bcd2df8d14" providerId="ADAL" clId="{5042F350-EEC0-4F45-8025-827E7905C01A}" dt="2024-03-19T11:47:48.726" v="752" actId="20577"/>
        <pc:sldMkLst>
          <pc:docMk/>
          <pc:sldMk cId="3292524802" sldId="351"/>
        </pc:sldMkLst>
        <pc:spChg chg="mod">
          <ac:chgData name="Hebatullah Awwad" userId="c074c6c3-03d1-4489-bec5-99bcd2df8d14" providerId="ADAL" clId="{5042F350-EEC0-4F45-8025-827E7905C01A}" dt="2024-03-19T11:47:48.726" v="752" actId="20577"/>
          <ac:spMkLst>
            <pc:docMk/>
            <pc:sldMk cId="3292524802" sldId="351"/>
            <ac:spMk id="6" creationId="{00000000-0000-0000-0000-000000000000}"/>
          </ac:spMkLst>
        </pc:spChg>
        <pc:spChg chg="mod">
          <ac:chgData name="Hebatullah Awwad" userId="c074c6c3-03d1-4489-bec5-99bcd2df8d14" providerId="ADAL" clId="{5042F350-EEC0-4F45-8025-827E7905C01A}" dt="2024-03-19T11:20:20.243" v="423" actId="6549"/>
          <ac:spMkLst>
            <pc:docMk/>
            <pc:sldMk cId="3292524802" sldId="351"/>
            <ac:spMk id="9" creationId="{4ED7AF77-D4EA-4864-83D9-6EEE6B36189F}"/>
          </ac:spMkLst>
        </pc:spChg>
      </pc:sldChg>
      <pc:sldChg chg="modSp add mod ord">
        <pc:chgData name="Hebatullah Awwad" userId="c074c6c3-03d1-4489-bec5-99bcd2df8d14" providerId="ADAL" clId="{5042F350-EEC0-4F45-8025-827E7905C01A}" dt="2024-03-19T11:13:28.350" v="377" actId="2711"/>
        <pc:sldMkLst>
          <pc:docMk/>
          <pc:sldMk cId="4249361032" sldId="352"/>
        </pc:sldMkLst>
        <pc:spChg chg="mod">
          <ac:chgData name="Hebatullah Awwad" userId="c074c6c3-03d1-4489-bec5-99bcd2df8d14" providerId="ADAL" clId="{5042F350-EEC0-4F45-8025-827E7905C01A}" dt="2024-03-19T11:13:28.350" v="377" actId="2711"/>
          <ac:spMkLst>
            <pc:docMk/>
            <pc:sldMk cId="4249361032" sldId="352"/>
            <ac:spMk id="6" creationId="{00000000-0000-0000-0000-000000000000}"/>
          </ac:spMkLst>
        </pc:spChg>
        <pc:spChg chg="mod">
          <ac:chgData name="Hebatullah Awwad" userId="c074c6c3-03d1-4489-bec5-99bcd2df8d14" providerId="ADAL" clId="{5042F350-EEC0-4F45-8025-827E7905C01A}" dt="2024-03-19T10:52:53.483" v="27" actId="6549"/>
          <ac:spMkLst>
            <pc:docMk/>
            <pc:sldMk cId="4249361032" sldId="352"/>
            <ac:spMk id="9" creationId="{4ED7AF77-D4EA-4864-83D9-6EEE6B36189F}"/>
          </ac:spMkLst>
        </pc:spChg>
      </pc:sldChg>
      <pc:sldChg chg="modSp add del mod">
        <pc:chgData name="Hebatullah Awwad" userId="c074c6c3-03d1-4489-bec5-99bcd2df8d14" providerId="ADAL" clId="{5042F350-EEC0-4F45-8025-827E7905C01A}" dt="2024-03-19T11:16:18.261" v="401" actId="47"/>
        <pc:sldMkLst>
          <pc:docMk/>
          <pc:sldMk cId="2957695593" sldId="353"/>
        </pc:sldMkLst>
        <pc:spChg chg="mod">
          <ac:chgData name="Hebatullah Awwad" userId="c074c6c3-03d1-4489-bec5-99bcd2df8d14" providerId="ADAL" clId="{5042F350-EEC0-4F45-8025-827E7905C01A}" dt="2024-03-19T11:16:03.782" v="400" actId="6549"/>
          <ac:spMkLst>
            <pc:docMk/>
            <pc:sldMk cId="2957695593" sldId="353"/>
            <ac:spMk id="6" creationId="{00000000-0000-0000-0000-000000000000}"/>
          </ac:spMkLst>
        </pc:spChg>
        <pc:spChg chg="mod">
          <ac:chgData name="Hebatullah Awwad" userId="c074c6c3-03d1-4489-bec5-99bcd2df8d14" providerId="ADAL" clId="{5042F350-EEC0-4F45-8025-827E7905C01A}" dt="2024-03-19T11:13:48.324" v="379" actId="6549"/>
          <ac:spMkLst>
            <pc:docMk/>
            <pc:sldMk cId="2957695593" sldId="353"/>
            <ac:spMk id="9" creationId="{4ED7AF77-D4EA-4864-83D9-6EEE6B3618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4CAB3C3-2BCE-4207-AA4A-342A69D94A62}" type="datetimeFigureOut">
              <a:rPr lang="en-US" smtClean="0"/>
              <a:t>19-Mar-24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922392F1-6902-45CB-AA19-E1489FD1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0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1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71802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2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34078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3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83283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940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566" y="182562"/>
            <a:ext cx="10515600" cy="636361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566" y="1184048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097281"/>
            <a:ext cx="10515600" cy="4992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5" y="161676"/>
            <a:ext cx="10515600" cy="6781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785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6355"/>
            <a:ext cx="5181600" cy="5021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6355"/>
            <a:ext cx="5181600" cy="5021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182562"/>
            <a:ext cx="10515600" cy="63636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46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08898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12898"/>
            <a:ext cx="5157787" cy="4339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8898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12898"/>
            <a:ext cx="5183188" cy="4339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0460"/>
            <a:ext cx="10515600" cy="540566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53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9168"/>
            <a:ext cx="10515600" cy="523149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919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761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1486"/>
            <a:ext cx="3932237" cy="1055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52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2446"/>
            <a:ext cx="3932237" cy="9949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062446"/>
            <a:ext cx="6172200" cy="47986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223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8" y="182562"/>
            <a:ext cx="10515600" cy="63636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01485"/>
            <a:ext cx="10515600" cy="5175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2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01485"/>
            <a:ext cx="2628900" cy="5175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01485"/>
            <a:ext cx="7734300" cy="5175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524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228" y="1101228"/>
            <a:ext cx="10994572" cy="5075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228" y="280331"/>
            <a:ext cx="10515600" cy="540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729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554" y="345053"/>
            <a:ext cx="8592127" cy="5693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Computer Programming </a:t>
            </a:r>
            <a:r>
              <a:rPr lang="ar-JO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50A834-B975-0C7A-22B1-05F5D93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304" y="1103015"/>
            <a:ext cx="4103392" cy="5253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871" y="1658591"/>
            <a:ext cx="11083637" cy="354081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Two</a:t>
            </a:r>
            <a:b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 Concept</a:t>
            </a:r>
            <a:endParaRPr lang="ar-JO" sz="6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50A834-B975-0C7A-22B1-05F5D93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44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97494" y="219651"/>
            <a:ext cx="8229600" cy="65321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Outline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5429"/>
            <a:ext cx="9400309" cy="5483488"/>
          </a:xfrm>
        </p:spPr>
        <p:txBody>
          <a:bodyPr>
            <a:noAutofit/>
          </a:bodyPr>
          <a:lstStyle/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7B27D6-C4F1-2814-5E15-07F895C5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A4D793-295C-4239-BD16-F122C16EDD60}"/>
              </a:ext>
            </a:extLst>
          </p:cNvPr>
          <p:cNvSpPr txBox="1">
            <a:spLocks/>
          </p:cNvSpPr>
          <p:nvPr/>
        </p:nvSpPr>
        <p:spPr>
          <a:xfrm>
            <a:off x="187735" y="1028655"/>
            <a:ext cx="9400309" cy="5234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Collection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in a class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invocation in the main class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Examples of direct calling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13753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Sana'a\Desktop\java_2024\JAVA2- summer Semester\Modification\Java Part 2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2010" y="3660380"/>
            <a:ext cx="5238750" cy="2562225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497492" y="1025760"/>
            <a:ext cx="11267787" cy="257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Garbage Collection </a:t>
            </a: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in Java is a process where the Java Virtual Machine (JVM) automatically manages memory by recovering the memory used by objects that are no longer needed or referenced by the program</a:t>
            </a:r>
            <a:r>
              <a:rPr lang="en-GB" sz="2200" dirty="0"/>
              <a:t>.</a:t>
            </a:r>
          </a:p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Java virtual machine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virtual machine that enables a computer to run Java programs as well as programs written in other languages that are also compiled </a:t>
            </a:r>
            <a:r>
              <a:rPr lang="ar-JO" sz="2200" dirty="0">
                <a:latin typeface="Times New Roman" pitchFamily="18" charset="0"/>
                <a:cs typeface="Times New Roman" pitchFamily="18" charset="0"/>
              </a:rPr>
              <a:t>into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Java bytecode.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B7E9BD-6393-4487-8759-6624818527DF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Garbage Collection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810E9357-028E-42BC-9E74-84C2F011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4CC59-6815-4AE4-893F-197359F1B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295" y="1053962"/>
            <a:ext cx="10979271" cy="185738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 shown in the following figure, after the assignment statement c1 = c2, c1 points to the same object referenced by c2.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object previously referenced by c1 is no longer referenced.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object is known as garbage. Garbage is automatically collected by JVM.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24731"/>
              </p:ext>
            </p:extLst>
          </p:nvPr>
        </p:nvGraphicFramePr>
        <p:xfrm>
          <a:off x="2831890" y="3235329"/>
          <a:ext cx="6102384" cy="305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439668" imgH="1740408" progId="Word.Picture.8">
                  <p:embed/>
                </p:oleObj>
              </mc:Choice>
              <mc:Fallback>
                <p:oleObj name="Picture" r:id="rId2" imgW="3439668" imgH="1740408" progId="Word.Picture.8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890" y="3235329"/>
                        <a:ext cx="6102384" cy="30511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9203EB75-BFC4-46AB-9522-76B9969FF68D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Garbage Collection: Explanation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037DFBF-7B59-4DC3-9739-663C588C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97493" y="1038638"/>
            <a:ext cx="10504363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You may remember earlier when we talked about the state of an object, which consists of both a state (data fields) and behavior (methods), and we explained the data fields. </a:t>
            </a:r>
            <a:endParaRPr lang="ar-JO" sz="2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 let's talk about </a:t>
            </a:r>
            <a:r>
              <a:rPr lang="en-US" sz="22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pSp>
        <p:nvGrpSpPr>
          <p:cNvPr id="2" name="Group 32"/>
          <p:cNvGrpSpPr/>
          <p:nvPr/>
        </p:nvGrpSpPr>
        <p:grpSpPr>
          <a:xfrm>
            <a:off x="1523968" y="3000372"/>
            <a:ext cx="9001188" cy="2928958"/>
            <a:chOff x="285720" y="2714620"/>
            <a:chExt cx="9001188" cy="2928958"/>
          </a:xfrm>
        </p:grpSpPr>
        <p:grpSp>
          <p:nvGrpSpPr>
            <p:cNvPr id="3" name="Group 20"/>
            <p:cNvGrpSpPr/>
            <p:nvPr/>
          </p:nvGrpSpPr>
          <p:grpSpPr>
            <a:xfrm>
              <a:off x="285720" y="2714620"/>
              <a:ext cx="9001188" cy="2928958"/>
              <a:chOff x="-285784" y="2626866"/>
              <a:chExt cx="9001188" cy="2928958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1071538" y="2626866"/>
                <a:ext cx="3143272" cy="292895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en-US" sz="1300" b="1" dirty="0">
                    <a:solidFill>
                      <a:srgbClr val="C00000"/>
                    </a:solidFill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Class Name</a:t>
                </a:r>
              </a:p>
              <a:p>
                <a:pPr fontAlgn="base">
                  <a:spcBef>
                    <a:spcPct val="0"/>
                  </a:spcBef>
                  <a:spcAft>
                    <a:spcPts val="200"/>
                  </a:spcAft>
                </a:pPr>
                <a:endParaRPr lang="en-US" sz="13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en-US" sz="1300" b="1" dirty="0">
                    <a:latin typeface="Times New Roman" pitchFamily="18" charset="0"/>
                    <a:cs typeface="Times New Roman" pitchFamily="18" charset="0"/>
                  </a:rPr>
                  <a:t>List of Attributes …..</a:t>
                </a:r>
              </a:p>
              <a:p>
                <a:pPr fontAlgn="base">
                  <a:spcBef>
                    <a:spcPct val="0"/>
                  </a:spcBef>
                  <a:spcAft>
                    <a:spcPts val="200"/>
                  </a:spcAft>
                </a:pPr>
                <a:endParaRPr lang="en-US" sz="13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ts val="200"/>
                  </a:spcAft>
                </a:pPr>
                <a:endParaRPr lang="en-US" sz="1200" dirty="0"/>
              </a:p>
              <a:p>
                <a:pPr fontAlgn="base">
                  <a:spcBef>
                    <a:spcPct val="0"/>
                  </a:spcBef>
                  <a:spcAft>
                    <a:spcPts val="200"/>
                  </a:spcAft>
                </a:pPr>
                <a:endParaRPr lang="en-US" sz="1000" dirty="0">
                  <a:latin typeface="Calibri" pitchFamily="34" charset="0"/>
                  <a:ea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1" name="AutoShape 11"/>
              <p:cNvCxnSpPr>
                <a:cxnSpLocks noChangeShapeType="1"/>
              </p:cNvCxnSpPr>
              <p:nvPr/>
            </p:nvCxnSpPr>
            <p:spPr bwMode="auto">
              <a:xfrm>
                <a:off x="1071538" y="3769874"/>
                <a:ext cx="3143272" cy="15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12" name="Rectangle 11"/>
              <p:cNvSpPr/>
              <p:nvPr/>
            </p:nvSpPr>
            <p:spPr>
              <a:xfrm>
                <a:off x="998480" y="3841312"/>
                <a:ext cx="321633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300" b="1" dirty="0">
                    <a:solidFill>
                      <a:srgbClr val="006600"/>
                    </a:solidFill>
                    <a:latin typeface="Times New Roman" pitchFamily="18" charset="0"/>
                    <a:cs typeface="Times New Roman" pitchFamily="18" charset="0"/>
                  </a:rPr>
                  <a:t>Method</a:t>
                </a:r>
                <a:r>
                  <a:rPr lang="en-US" sz="1300" b="1" baseline="-25000" dirty="0">
                    <a:solidFill>
                      <a:srgbClr val="00660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1300" b="1" dirty="0">
                    <a:solidFill>
                      <a:srgbClr val="006600"/>
                    </a:solidFill>
                    <a:latin typeface="Times New Roman" pitchFamily="18" charset="0"/>
                    <a:cs typeface="Times New Roman" pitchFamily="18" charset="0"/>
                  </a:rPr>
                  <a:t> name (): return data type or void</a:t>
                </a:r>
              </a:p>
            </p:txBody>
          </p:sp>
          <p:sp>
            <p:nvSpPr>
              <p:cNvPr id="15" name="Right Brace 14"/>
              <p:cNvSpPr/>
              <p:nvPr/>
            </p:nvSpPr>
            <p:spPr>
              <a:xfrm>
                <a:off x="4294974" y="2984056"/>
                <a:ext cx="500066" cy="785818"/>
              </a:xfrm>
              <a:prstGeom prst="rightBrac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795040" y="4412816"/>
                <a:ext cx="3920364" cy="4580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0">
                  <a:lnSpc>
                    <a:spcPct val="150000"/>
                  </a:lnSpc>
                </a:pPr>
                <a:r>
                  <a:rPr lang="en-US" b="1" u="sng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Methods</a:t>
                </a:r>
                <a:r>
                  <a:rPr lang="en-US" b="1" u="sng" dirty="0">
                    <a:latin typeface="Times New Roman" pitchFamily="18" charset="0"/>
                    <a:cs typeface="Times New Roman" pitchFamily="18" charset="0"/>
                  </a:rPr>
                  <a:t> define what the object does.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723602" y="3198370"/>
                <a:ext cx="29867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Data fields defines the object.</a:t>
                </a:r>
              </a:p>
            </p:txBody>
          </p:sp>
          <p:sp>
            <p:nvSpPr>
              <p:cNvPr id="18" name="Right Brace 17"/>
              <p:cNvSpPr/>
              <p:nvPr/>
            </p:nvSpPr>
            <p:spPr>
              <a:xfrm>
                <a:off x="4294974" y="3841312"/>
                <a:ext cx="500066" cy="1714512"/>
              </a:xfrm>
              <a:prstGeom prst="rightBrac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Left Brace 18"/>
              <p:cNvSpPr/>
              <p:nvPr/>
            </p:nvSpPr>
            <p:spPr>
              <a:xfrm>
                <a:off x="642910" y="2626866"/>
                <a:ext cx="357190" cy="2928958"/>
              </a:xfrm>
              <a:prstGeom prst="leftBrace">
                <a:avLst/>
              </a:prstGeom>
              <a:ln w="19050">
                <a:solidFill>
                  <a:srgbClr val="8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-285784" y="3769874"/>
                <a:ext cx="990720" cy="682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5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A class</a:t>
                </a:r>
              </a:p>
              <a:p>
                <a:pPr algn="ctr"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en-US" sz="15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Template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1571604" y="4208182"/>
              <a:ext cx="3216330" cy="2923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Method</a:t>
              </a:r>
              <a:r>
                <a:rPr lang="en-US" sz="1300" b="1" baseline="-25000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 name (): return data type or void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571604" y="4493934"/>
              <a:ext cx="3216330" cy="2923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Method</a:t>
              </a:r>
              <a:r>
                <a:rPr lang="en-US" sz="1300" b="1" baseline="-25000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 name (): return data type or void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571604" y="5279752"/>
              <a:ext cx="3216330" cy="2923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300" b="1" dirty="0" err="1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Method</a:t>
              </a:r>
              <a:r>
                <a:rPr lang="en-US" sz="1300" b="1" baseline="-25000" dirty="0" err="1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 name (): return data type or void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786050" y="4714884"/>
              <a:ext cx="226409" cy="6924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r>
                <a:rPr lang="en-GB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r>
                <a:rPr lang="en-GB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endParaRPr lang="en-US" sz="1300" b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34" name="AutoShape 11"/>
          <p:cNvCxnSpPr>
            <a:cxnSpLocks noChangeShapeType="1"/>
          </p:cNvCxnSpPr>
          <p:nvPr/>
        </p:nvCxnSpPr>
        <p:spPr bwMode="auto">
          <a:xfrm>
            <a:off x="2881290" y="3355974"/>
            <a:ext cx="3143272" cy="15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671DF5-48E3-4D79-ACE7-21FC8E6BF122}" type="slidenum">
              <a:rPr lang="ar-JO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ar-JO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9E23422-68CB-49CA-8F06-DD9D6C6AEACF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 in a class</a:t>
            </a:r>
          </a:p>
        </p:txBody>
      </p:sp>
      <p:sp>
        <p:nvSpPr>
          <p:cNvPr id="24" name="Footer Placeholder 5">
            <a:extLst>
              <a:ext uri="{FF2B5EF4-FFF2-40B4-BE49-F238E27FC236}">
                <a16:creationId xmlns:a16="http://schemas.microsoft.com/office/drawing/2014/main" id="{62534546-B2BF-4536-B20D-63BB9643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46186" y="1136197"/>
            <a:ext cx="6405596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Method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is a block of code that, when called, performs specific actions mentioned in it. 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instance, if you have written </a:t>
            </a: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instructions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to calculate the area of a circle in the method, it will do that task. 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You can insert values or </a:t>
            </a: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parameters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into methods, and they will only be executed when called. 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 look at the next (Circle class) example:</a:t>
            </a:r>
          </a:p>
        </p:txBody>
      </p:sp>
      <p:pic>
        <p:nvPicPr>
          <p:cNvPr id="2051" name="Picture 3" descr="I:\1-Java2_ Preparing Material\img\Capture2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92051" y="2047153"/>
            <a:ext cx="4691824" cy="3357586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671DF5-48E3-4D79-ACE7-21FC8E6BF122}" type="slidenum">
              <a:rPr lang="ar-JO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ar-JO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7221EC5-A4CE-4877-9ABF-3D4E0BDD7279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 in a class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2A0FF9E-AB2F-4321-9A46-8831D4F7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665E39-E534-6AC9-3064-030FEA5C4A06}"/>
              </a:ext>
            </a:extLst>
          </p:cNvPr>
          <p:cNvGrpSpPr/>
          <p:nvPr/>
        </p:nvGrpSpPr>
        <p:grpSpPr>
          <a:xfrm>
            <a:off x="8610600" y="3058305"/>
            <a:ext cx="1477856" cy="1335281"/>
            <a:chOff x="8310578" y="1643050"/>
            <a:chExt cx="2071702" cy="1928826"/>
          </a:xfrm>
        </p:grpSpPr>
        <p:grpSp>
          <p:nvGrpSpPr>
            <p:cNvPr id="3" name="Group 32">
              <a:extLst>
                <a:ext uri="{FF2B5EF4-FFF2-40B4-BE49-F238E27FC236}">
                  <a16:creationId xmlns:a16="http://schemas.microsoft.com/office/drawing/2014/main" id="{A6D1B455-BEDE-F681-8F93-1F0F91A4FC5B}"/>
                </a:ext>
              </a:extLst>
            </p:cNvPr>
            <p:cNvGrpSpPr/>
            <p:nvPr/>
          </p:nvGrpSpPr>
          <p:grpSpPr>
            <a:xfrm>
              <a:off x="8310578" y="1643050"/>
              <a:ext cx="2071702" cy="1928826"/>
              <a:chOff x="4643438" y="1714488"/>
              <a:chExt cx="2071702" cy="1928826"/>
            </a:xfrm>
          </p:grpSpPr>
          <p:grpSp>
            <p:nvGrpSpPr>
              <p:cNvPr id="5" name="Group 71">
                <a:extLst>
                  <a:ext uri="{FF2B5EF4-FFF2-40B4-BE49-F238E27FC236}">
                    <a16:creationId xmlns:a16="http://schemas.microsoft.com/office/drawing/2014/main" id="{CD01041F-0D59-2776-0640-DD6C93AD0CE8}"/>
                  </a:ext>
                </a:extLst>
              </p:cNvPr>
              <p:cNvGrpSpPr/>
              <p:nvPr/>
            </p:nvGrpSpPr>
            <p:grpSpPr>
              <a:xfrm>
                <a:off x="4643438" y="1714488"/>
                <a:ext cx="2071702" cy="1928826"/>
                <a:chOff x="2285984" y="1857364"/>
                <a:chExt cx="2071702" cy="1928826"/>
              </a:xfrm>
            </p:grpSpPr>
            <p:grpSp>
              <p:nvGrpSpPr>
                <p:cNvPr id="7" name="Group 63">
                  <a:extLst>
                    <a:ext uri="{FF2B5EF4-FFF2-40B4-BE49-F238E27FC236}">
                      <a16:creationId xmlns:a16="http://schemas.microsoft.com/office/drawing/2014/main" id="{FA32F333-753E-D498-A74B-62DB7DFCC6BC}"/>
                    </a:ext>
                  </a:extLst>
                </p:cNvPr>
                <p:cNvGrpSpPr/>
                <p:nvPr/>
              </p:nvGrpSpPr>
              <p:grpSpPr>
                <a:xfrm>
                  <a:off x="2285984" y="1857364"/>
                  <a:ext cx="2071702" cy="1928826"/>
                  <a:chOff x="6500826" y="214289"/>
                  <a:chExt cx="2071702" cy="2259482"/>
                </a:xfrm>
              </p:grpSpPr>
              <p:sp>
                <p:nvSpPr>
                  <p:cNvPr id="12" name="Rectangle 9">
                    <a:extLst>
                      <a:ext uri="{FF2B5EF4-FFF2-40B4-BE49-F238E27FC236}">
                        <a16:creationId xmlns:a16="http://schemas.microsoft.com/office/drawing/2014/main" id="{4119FD38-1850-4B94-971C-D7296E1436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00826" y="214289"/>
                    <a:ext cx="2071702" cy="225948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8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Arial" pitchFamily="34" charset="0"/>
                        <a:cs typeface="Times New Roman" pitchFamily="18" charset="0"/>
                      </a:rPr>
                      <a:t>Circle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800" b="1" dirty="0">
                        <a:latin typeface="Times New Roman" pitchFamily="18" charset="0"/>
                        <a:cs typeface="Times New Roman" pitchFamily="18" charset="0"/>
                      </a:rPr>
                      <a:t>radius: double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800" b="1" dirty="0">
                        <a:latin typeface="Times New Roman" pitchFamily="18" charset="0"/>
                        <a:cs typeface="Times New Roman" pitchFamily="18" charset="0"/>
                      </a:rPr>
                      <a:t>name: String 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800" b="1" dirty="0">
                        <a:latin typeface="Times New Roman" pitchFamily="18" charset="0"/>
                        <a:cs typeface="Times New Roman" pitchFamily="18" charset="0"/>
                      </a:rPr>
                      <a:t>dimension: double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800" b="1" dirty="0">
                        <a:latin typeface="Times New Roman" pitchFamily="18" charset="0"/>
                        <a:cs typeface="Times New Roman" pitchFamily="18" charset="0"/>
                      </a:rPr>
                      <a:t>Color: String</a:t>
                    </a:r>
                    <a:endParaRPr lang="en-US" sz="800" dirty="0">
                      <a:latin typeface="Calibri" pitchFamily="34" charset="0"/>
                      <a:ea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14" name="AutoShape 10">
                    <a:extLst>
                      <a:ext uri="{FF2B5EF4-FFF2-40B4-BE49-F238E27FC236}">
                        <a16:creationId xmlns:a16="http://schemas.microsoft.com/office/drawing/2014/main" id="{D2CE316B-5461-70AA-DAE6-035A921900E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500826" y="511574"/>
                    <a:ext cx="2071702" cy="1588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</p:grp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7B22AF6-C8E6-F2D6-C012-97012CCD35A9}"/>
                    </a:ext>
                  </a:extLst>
                </p:cNvPr>
                <p:cNvSpPr/>
                <p:nvPr/>
              </p:nvSpPr>
              <p:spPr>
                <a:xfrm>
                  <a:off x="2285984" y="3071811"/>
                  <a:ext cx="1240870" cy="2646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:r>
                    <a:rPr lang="en-US" sz="800" b="1" dirty="0">
                      <a:solidFill>
                        <a:srgbClr val="006600"/>
                      </a:solidFill>
                      <a:latin typeface="Times New Roman" pitchFamily="18" charset="0"/>
                      <a:cs typeface="Times New Roman" pitchFamily="18" charset="0"/>
                    </a:rPr>
                    <a:t>+ area(): double</a:t>
                  </a:r>
                </a:p>
              </p:txBody>
            </p:sp>
          </p:grpSp>
          <p:cxnSp>
            <p:nvCxnSpPr>
              <p:cNvPr id="6" name="AutoShape 10">
                <a:extLst>
                  <a:ext uri="{FF2B5EF4-FFF2-40B4-BE49-F238E27FC236}">
                    <a16:creationId xmlns:a16="http://schemas.microsoft.com/office/drawing/2014/main" id="{696539AF-93D2-0A56-2F0D-B47CCC1521D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43438" y="2928934"/>
                <a:ext cx="2071702" cy="18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7163A6-E003-8125-51E8-F536A2E43F14}"/>
                </a:ext>
              </a:extLst>
            </p:cNvPr>
            <p:cNvSpPr/>
            <p:nvPr/>
          </p:nvSpPr>
          <p:spPr>
            <a:xfrm>
              <a:off x="8310578" y="3087883"/>
              <a:ext cx="1948717" cy="2646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8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+ printDataFields (): String</a:t>
              </a: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D83753-CF3D-335E-EF7A-980045077382}"/>
              </a:ext>
            </a:extLst>
          </p:cNvPr>
          <p:cNvGrpSpPr/>
          <p:nvPr/>
        </p:nvGrpSpPr>
        <p:grpSpPr>
          <a:xfrm>
            <a:off x="1595406" y="1357298"/>
            <a:ext cx="6286544" cy="4857784"/>
            <a:chOff x="1595406" y="1357298"/>
            <a:chExt cx="6286544" cy="4857784"/>
          </a:xfrm>
        </p:grpSpPr>
        <p:grpSp>
          <p:nvGrpSpPr>
            <p:cNvPr id="6" name="Group 5"/>
            <p:cNvGrpSpPr/>
            <p:nvPr/>
          </p:nvGrpSpPr>
          <p:grpSpPr>
            <a:xfrm>
              <a:off x="1595406" y="1357298"/>
              <a:ext cx="6286544" cy="4857784"/>
              <a:chOff x="1595406" y="1357298"/>
              <a:chExt cx="6286544" cy="4857784"/>
            </a:xfrm>
          </p:grpSpPr>
          <p:pic>
            <p:nvPicPr>
              <p:cNvPr id="16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595406" y="1357298"/>
                <a:ext cx="6286544" cy="4857784"/>
              </a:xfrm>
              <a:prstGeom prst="rect">
                <a:avLst/>
              </a:prstGeom>
              <a:ln w="127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F20BE2-C93E-2BA4-E7BD-87E0151A3101}"/>
                  </a:ext>
                </a:extLst>
              </p:cNvPr>
              <p:cNvSpPr/>
              <p:nvPr/>
            </p:nvSpPr>
            <p:spPr>
              <a:xfrm>
                <a:off x="2166910" y="5122863"/>
                <a:ext cx="1887460" cy="2322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7F20BE2-C93E-2BA4-E7BD-87E0151A3101}"/>
                  </a:ext>
                </a:extLst>
              </p:cNvPr>
              <p:cNvSpPr/>
              <p:nvPr/>
            </p:nvSpPr>
            <p:spPr>
              <a:xfrm>
                <a:off x="3307600" y="5361406"/>
                <a:ext cx="1218351" cy="2173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 b="1" dirty="0">
                    <a:solidFill>
                      <a:schemeClr val="tx1"/>
                    </a:solidFill>
                  </a:rPr>
                  <a:t>printDataFields </a:t>
                </a:r>
                <a:r>
                  <a:rPr lang="en-US" sz="1000" dirty="0">
                    <a:solidFill>
                      <a:schemeClr val="tx1"/>
                    </a:solidFill>
                  </a:rPr>
                  <a:t>() {</a:t>
                </a:r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9604C34-8B03-4107-60ED-834888576372}"/>
                </a:ext>
              </a:extLst>
            </p:cNvPr>
            <p:cNvSpPr/>
            <p:nvPr/>
          </p:nvSpPr>
          <p:spPr>
            <a:xfrm>
              <a:off x="2092887" y="2097173"/>
              <a:ext cx="807067" cy="672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310578" y="1643050"/>
            <a:ext cx="2149948" cy="1928826"/>
            <a:chOff x="8310578" y="1643050"/>
            <a:chExt cx="2149948" cy="1928826"/>
          </a:xfrm>
        </p:grpSpPr>
        <p:grpSp>
          <p:nvGrpSpPr>
            <p:cNvPr id="2" name="Group 32"/>
            <p:cNvGrpSpPr/>
            <p:nvPr/>
          </p:nvGrpSpPr>
          <p:grpSpPr>
            <a:xfrm>
              <a:off x="8310578" y="1643050"/>
              <a:ext cx="2071702" cy="1928826"/>
              <a:chOff x="4643438" y="1714488"/>
              <a:chExt cx="2071702" cy="1928826"/>
            </a:xfrm>
          </p:grpSpPr>
          <p:grpSp>
            <p:nvGrpSpPr>
              <p:cNvPr id="3" name="Group 71"/>
              <p:cNvGrpSpPr/>
              <p:nvPr/>
            </p:nvGrpSpPr>
            <p:grpSpPr>
              <a:xfrm>
                <a:off x="4643438" y="1714488"/>
                <a:ext cx="2071702" cy="1928826"/>
                <a:chOff x="2285984" y="1857364"/>
                <a:chExt cx="2071702" cy="1928826"/>
              </a:xfrm>
            </p:grpSpPr>
            <p:grpSp>
              <p:nvGrpSpPr>
                <p:cNvPr id="4" name="Group 63"/>
                <p:cNvGrpSpPr/>
                <p:nvPr/>
              </p:nvGrpSpPr>
              <p:grpSpPr>
                <a:xfrm>
                  <a:off x="2285984" y="1857364"/>
                  <a:ext cx="2071702" cy="1928826"/>
                  <a:chOff x="6500826" y="214289"/>
                  <a:chExt cx="2071702" cy="2259482"/>
                </a:xfrm>
              </p:grpSpPr>
              <p:sp>
                <p:nvSpPr>
                  <p:cNvPr id="30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6500826" y="214289"/>
                    <a:ext cx="2071702" cy="225948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13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Arial" pitchFamily="34" charset="0"/>
                        <a:cs typeface="Times New Roman" pitchFamily="18" charset="0"/>
                      </a:rPr>
                      <a:t>Circle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1300" b="1" dirty="0">
                        <a:latin typeface="Times New Roman" pitchFamily="18" charset="0"/>
                        <a:cs typeface="Times New Roman" pitchFamily="18" charset="0"/>
                      </a:rPr>
                      <a:t>radius: double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1300" b="1" dirty="0">
                        <a:latin typeface="Times New Roman" pitchFamily="18" charset="0"/>
                        <a:cs typeface="Times New Roman" pitchFamily="18" charset="0"/>
                      </a:rPr>
                      <a:t>name: String 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1300" b="1" dirty="0">
                        <a:latin typeface="Times New Roman" pitchFamily="18" charset="0"/>
                        <a:cs typeface="Times New Roman" pitchFamily="18" charset="0"/>
                      </a:rPr>
                      <a:t>dimension: double</a:t>
                    </a:r>
                  </a:p>
                  <a:p>
                    <a:pPr fontAlgn="base">
                      <a:spcBef>
                        <a:spcPct val="0"/>
                      </a:spcBef>
                      <a:spcAft>
                        <a:spcPts val="200"/>
                      </a:spcAft>
                    </a:pPr>
                    <a:r>
                      <a:rPr lang="en-US" sz="1300" b="1" dirty="0">
                        <a:latin typeface="Times New Roman" pitchFamily="18" charset="0"/>
                        <a:cs typeface="Times New Roman" pitchFamily="18" charset="0"/>
                      </a:rPr>
                      <a:t>Color: String</a:t>
                    </a:r>
                    <a:endParaRPr lang="en-US" sz="1000" dirty="0">
                      <a:latin typeface="Calibri" pitchFamily="34" charset="0"/>
                      <a:ea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31" name="AutoShape 1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500826" y="511574"/>
                    <a:ext cx="2071702" cy="1588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</p:grpSp>
            <p:sp>
              <p:nvSpPr>
                <p:cNvPr id="28" name="Rectangle 27"/>
                <p:cNvSpPr/>
                <p:nvPr/>
              </p:nvSpPr>
              <p:spPr>
                <a:xfrm>
                  <a:off x="2285984" y="3071810"/>
                  <a:ext cx="1324593" cy="2923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:r>
                    <a:rPr lang="en-US" sz="1300" b="1" dirty="0">
                      <a:solidFill>
                        <a:srgbClr val="006600"/>
                      </a:solidFill>
                      <a:latin typeface="Times New Roman" pitchFamily="18" charset="0"/>
                      <a:cs typeface="Times New Roman" pitchFamily="18" charset="0"/>
                    </a:rPr>
                    <a:t>+ area(): double</a:t>
                  </a:r>
                </a:p>
              </p:txBody>
            </p:sp>
          </p:grpSp>
          <p:cxnSp>
            <p:nvCxnSpPr>
              <p:cNvPr id="26" name="AutoShape 10"/>
              <p:cNvCxnSpPr>
                <a:cxnSpLocks noChangeShapeType="1"/>
              </p:cNvCxnSpPr>
              <p:nvPr/>
            </p:nvCxnSpPr>
            <p:spPr bwMode="auto">
              <a:xfrm>
                <a:off x="4643438" y="2928934"/>
                <a:ext cx="2071702" cy="18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29" name="Rectangle 28"/>
            <p:cNvSpPr/>
            <p:nvPr/>
          </p:nvSpPr>
          <p:spPr>
            <a:xfrm>
              <a:off x="8310578" y="3087883"/>
              <a:ext cx="2149948" cy="2923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300" b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+ printDataFields (): String</a:t>
              </a:r>
            </a:p>
          </p:txBody>
        </p:sp>
      </p:grpSp>
      <p:cxnSp>
        <p:nvCxnSpPr>
          <p:cNvPr id="7" name="Straight Connector 6"/>
          <p:cNvCxnSpPr/>
          <p:nvPr/>
        </p:nvCxnSpPr>
        <p:spPr>
          <a:xfrm>
            <a:off x="2166910" y="1000108"/>
            <a:ext cx="800105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0579" y="1285861"/>
            <a:ext cx="12698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5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Design Phase</a:t>
            </a:r>
          </a:p>
        </p:txBody>
      </p:sp>
      <p:cxnSp>
        <p:nvCxnSpPr>
          <p:cNvPr id="38" name="Straight Connector 37"/>
          <p:cNvCxnSpPr/>
          <p:nvPr/>
        </p:nvCxnSpPr>
        <p:spPr>
          <a:xfrm rot="5400000">
            <a:off x="10007637" y="4210342"/>
            <a:ext cx="2000264" cy="1588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ight Brace 44"/>
          <p:cNvSpPr/>
          <p:nvPr/>
        </p:nvSpPr>
        <p:spPr>
          <a:xfrm>
            <a:off x="7167570" y="4643446"/>
            <a:ext cx="500066" cy="1357322"/>
          </a:xfrm>
          <a:prstGeom prst="rightBrace">
            <a:avLst>
              <a:gd name="adj1" fmla="val 8333"/>
              <a:gd name="adj2" fmla="val 41834"/>
            </a:avLst>
          </a:prstGeom>
          <a:ln w="28575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Brace 45"/>
          <p:cNvSpPr/>
          <p:nvPr/>
        </p:nvSpPr>
        <p:spPr>
          <a:xfrm>
            <a:off x="10284279" y="2928934"/>
            <a:ext cx="214314" cy="571504"/>
          </a:xfrm>
          <a:prstGeom prst="rightBrace">
            <a:avLst>
              <a:gd name="adj1" fmla="val 8333"/>
              <a:gd name="adj2" fmla="val 50000"/>
            </a:avLst>
          </a:prstGeom>
          <a:ln w="28575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8276657" y="3786191"/>
            <a:ext cx="2500330" cy="1256691"/>
          </a:xfrm>
          <a:prstGeom prst="rect">
            <a:avLst/>
          </a:prstGeom>
          <a:ln w="19050">
            <a:solidFill>
              <a:srgbClr val="0070C0"/>
            </a:solidFill>
            <a:prstDash val="dash"/>
          </a:ln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A class allows the programmer</a:t>
            </a:r>
          </a:p>
          <a:p>
            <a:pPr algn="just" rtl="0">
              <a:lnSpc>
                <a:spcPct val="150000"/>
              </a:lnSpc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 to define all the Methods that </a:t>
            </a:r>
            <a:r>
              <a:rPr lang="en-US" sz="13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internally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 define the behavior of an object..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3968" y="1000109"/>
            <a:ext cx="423199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5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Implementation (programming) Phase using java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671DF5-48E3-4D79-ACE7-21FC8E6BF122}" type="slidenum">
              <a:rPr lang="ar-JO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ar-JO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35C6043-4F93-4561-8B3B-B078A2BF335F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 in a class</a:t>
            </a:r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3FEDE592-669A-4CD9-9843-442DFCAC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4" name="Straight Arrow Connector 43"/>
          <p:cNvCxnSpPr>
            <a:stCxn id="45" idx="1"/>
          </p:cNvCxnSpPr>
          <p:nvPr/>
        </p:nvCxnSpPr>
        <p:spPr>
          <a:xfrm>
            <a:off x="7667636" y="5211268"/>
            <a:ext cx="3356281" cy="0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10380975" y="3214686"/>
            <a:ext cx="642942" cy="1588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97492" y="1111535"/>
            <a:ext cx="1085630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There are two ways to call methods in Java:</a:t>
            </a:r>
          </a:p>
          <a:p>
            <a:pPr marL="271463" indent="-271463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Assuming A(), and B() methods in the same class. The method A() can call method B() directly as shown below:</a:t>
            </a:r>
          </a:p>
        </p:txBody>
      </p:sp>
      <p:grpSp>
        <p:nvGrpSpPr>
          <p:cNvPr id="2" name="Group 38"/>
          <p:cNvGrpSpPr/>
          <p:nvPr/>
        </p:nvGrpSpPr>
        <p:grpSpPr>
          <a:xfrm>
            <a:off x="2959160" y="2836919"/>
            <a:ext cx="2714644" cy="2143140"/>
            <a:chOff x="785786" y="2714620"/>
            <a:chExt cx="2357454" cy="1643074"/>
          </a:xfrm>
        </p:grpSpPr>
        <p:grpSp>
          <p:nvGrpSpPr>
            <p:cNvPr id="3" name="Group 17"/>
            <p:cNvGrpSpPr/>
            <p:nvPr/>
          </p:nvGrpSpPr>
          <p:grpSpPr>
            <a:xfrm>
              <a:off x="785786" y="2714620"/>
              <a:ext cx="2357454" cy="1643074"/>
              <a:chOff x="642910" y="3000372"/>
              <a:chExt cx="2714644" cy="2071702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42910" y="3000372"/>
                <a:ext cx="2714644" cy="207170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714348" y="3071810"/>
                <a:ext cx="792205" cy="357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GB" b="1" dirty="0"/>
                  <a:t>class x</a:t>
                </a:r>
                <a:endParaRPr lang="en-US" b="1" dirty="0"/>
              </a:p>
            </p:txBody>
          </p:sp>
        </p:grpSp>
        <p:sp>
          <p:nvSpPr>
            <p:cNvPr id="36" name="Rounded Rectangle 35"/>
            <p:cNvSpPr/>
            <p:nvPr/>
          </p:nvSpPr>
          <p:spPr>
            <a:xfrm>
              <a:off x="928662" y="3143248"/>
              <a:ext cx="2000264" cy="548038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n-GB" b="1" dirty="0">
                  <a:solidFill>
                    <a:srgbClr val="C00000"/>
                  </a:solidFill>
                </a:rPr>
                <a:t>A(){</a:t>
              </a:r>
            </a:p>
            <a:p>
              <a:pPr algn="ctr" rtl="0"/>
              <a:r>
                <a:rPr lang="en-GB" b="1" dirty="0">
                  <a:solidFill>
                    <a:srgbClr val="0000FF"/>
                  </a:solidFill>
                </a:rPr>
                <a:t>B()</a:t>
              </a:r>
              <a:r>
                <a:rPr lang="en-GB" b="1" dirty="0">
                  <a:solidFill>
                    <a:srgbClr val="C00000"/>
                  </a:solidFill>
                </a:rPr>
                <a:t>}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28662" y="3786190"/>
              <a:ext cx="2000264" cy="46537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0000FF"/>
                  </a:solidFill>
                </a:rPr>
                <a:t>B(){}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671DF5-48E3-4D79-ACE7-21FC8E6BF122}" type="slidenum">
              <a:rPr lang="ar-JO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ar-JO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0542D14-330B-42B6-B3DD-104CABFB0960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 invocation in the main class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A59FDB2-D918-4786-BF16-C34775EB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7596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97492" y="1018363"/>
            <a:ext cx="1085630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271463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Assuming method A() wants to call method B (), and they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are not in the same class. </a:t>
            </a:r>
            <a:b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So, 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A() should call B() with the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object name 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 follows.</a:t>
            </a:r>
          </a:p>
        </p:txBody>
      </p:sp>
      <p:grpSp>
        <p:nvGrpSpPr>
          <p:cNvPr id="2" name="Group 24"/>
          <p:cNvGrpSpPr/>
          <p:nvPr/>
        </p:nvGrpSpPr>
        <p:grpSpPr>
          <a:xfrm>
            <a:off x="1497625" y="2534877"/>
            <a:ext cx="5786478" cy="1928826"/>
            <a:chOff x="1142976" y="3714752"/>
            <a:chExt cx="5786478" cy="1928826"/>
          </a:xfrm>
        </p:grpSpPr>
        <p:sp>
          <p:nvSpPr>
            <p:cNvPr id="13" name="Rectangle 12"/>
            <p:cNvSpPr/>
            <p:nvPr/>
          </p:nvSpPr>
          <p:spPr>
            <a:xfrm>
              <a:off x="1142976" y="3714752"/>
              <a:ext cx="5786478" cy="1928826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33"/>
            <p:cNvGrpSpPr/>
            <p:nvPr/>
          </p:nvGrpSpPr>
          <p:grpSpPr>
            <a:xfrm>
              <a:off x="1285852" y="3786189"/>
              <a:ext cx="5572164" cy="1785951"/>
              <a:chOff x="1214414" y="1500173"/>
              <a:chExt cx="5572164" cy="1785951"/>
            </a:xfrm>
          </p:grpSpPr>
          <p:grpSp>
            <p:nvGrpSpPr>
              <p:cNvPr id="4" name="Group 17"/>
              <p:cNvGrpSpPr/>
              <p:nvPr/>
            </p:nvGrpSpPr>
            <p:grpSpPr>
              <a:xfrm>
                <a:off x="1214414" y="1500173"/>
                <a:ext cx="2714644" cy="1785951"/>
                <a:chOff x="642910" y="3000372"/>
                <a:chExt cx="2714644" cy="1735750"/>
              </a:xfrm>
            </p:grpSpPr>
            <p:sp>
              <p:nvSpPr>
                <p:cNvPr id="22" name="Rectangle 21"/>
                <p:cNvSpPr/>
                <p:nvPr/>
              </p:nvSpPr>
              <p:spPr>
                <a:xfrm>
                  <a:off x="642910" y="3000372"/>
                  <a:ext cx="2714644" cy="173575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714348" y="3071810"/>
                  <a:ext cx="792205" cy="3589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:r>
                    <a:rPr lang="en-GB" b="1" dirty="0"/>
                    <a:t>class x</a:t>
                  </a:r>
                  <a:endParaRPr lang="en-US" b="1" dirty="0"/>
                </a:p>
              </p:txBody>
            </p:sp>
          </p:grpSp>
          <p:grpSp>
            <p:nvGrpSpPr>
              <p:cNvPr id="6" name="Group 17"/>
              <p:cNvGrpSpPr/>
              <p:nvPr/>
            </p:nvGrpSpPr>
            <p:grpSpPr>
              <a:xfrm>
                <a:off x="4071934" y="1500174"/>
                <a:ext cx="2714644" cy="1785950"/>
                <a:chOff x="642910" y="3000372"/>
                <a:chExt cx="2714644" cy="2071702"/>
              </a:xfrm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642910" y="3000372"/>
                  <a:ext cx="2714644" cy="207170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714348" y="3071809"/>
                  <a:ext cx="795411" cy="4284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:r>
                    <a:rPr lang="en-GB" b="1" dirty="0"/>
                    <a:t>class y</a:t>
                  </a:r>
                  <a:endParaRPr lang="en-US" b="1" dirty="0"/>
                </a:p>
              </p:txBody>
            </p:sp>
          </p:grpSp>
          <p:sp>
            <p:nvSpPr>
              <p:cNvPr id="17" name="Rounded Rectangle 16"/>
              <p:cNvSpPr/>
              <p:nvPr/>
            </p:nvSpPr>
            <p:spPr>
              <a:xfrm>
                <a:off x="1285852" y="1928801"/>
                <a:ext cx="2428892" cy="1175978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r>
                  <a:rPr lang="en-GB" b="1" dirty="0">
                    <a:solidFill>
                      <a:srgbClr val="C00000"/>
                    </a:solidFill>
                  </a:rPr>
                  <a:t>A(){</a:t>
                </a:r>
              </a:p>
              <a:p>
                <a:pPr algn="l" rtl="0"/>
                <a:r>
                  <a:rPr lang="en-GB" b="1" dirty="0">
                    <a:solidFill>
                      <a:srgbClr val="0000FF"/>
                    </a:solidFill>
                  </a:rPr>
                  <a:t>y obj1= new y();</a:t>
                </a:r>
              </a:p>
              <a:p>
                <a:pPr algn="l" rtl="0"/>
                <a:r>
                  <a:rPr lang="en-GB" b="1" dirty="0">
                    <a:solidFill>
                      <a:srgbClr val="0000FF"/>
                    </a:solidFill>
                  </a:rPr>
                  <a:t>obj1.B(); </a:t>
                </a:r>
                <a:r>
                  <a:rPr lang="en-GB" b="1" dirty="0">
                    <a:solidFill>
                      <a:srgbClr val="C00000"/>
                    </a:solidFill>
                  </a:rPr>
                  <a:t>}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4286248" y="2071680"/>
                <a:ext cx="2000264" cy="729160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rgbClr val="0000FF"/>
                    </a:solidFill>
                  </a:rPr>
                  <a:t>B(){}</a:t>
                </a:r>
                <a:endParaRPr lang="en-US" b="1" dirty="0">
                  <a:solidFill>
                    <a:srgbClr val="0000FF"/>
                  </a:solidFill>
                </a:endParaRPr>
              </a:p>
            </p:txBody>
          </p:sp>
        </p:grpSp>
      </p:grp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671DF5-48E3-4D79-ACE7-21FC8E6BF122}" type="slidenum">
              <a:rPr lang="ar-JO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ar-JO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5A6214D-C710-41C6-AE80-4E8B56A19EB2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 invocation in the main class</a:t>
            </a:r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4107276C-9C40-484F-80D9-3E8233F5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9896F3-F7DF-6962-16B8-F19CB6F6D96E}"/>
              </a:ext>
            </a:extLst>
          </p:cNvPr>
          <p:cNvGrpSpPr/>
          <p:nvPr/>
        </p:nvGrpSpPr>
        <p:grpSpPr>
          <a:xfrm>
            <a:off x="1595438" y="1285861"/>
            <a:ext cx="5072066" cy="4886325"/>
            <a:chOff x="1595438" y="1285861"/>
            <a:chExt cx="5072066" cy="4886325"/>
          </a:xfrm>
        </p:grpSpPr>
        <p:grpSp>
          <p:nvGrpSpPr>
            <p:cNvPr id="9" name="Group 8"/>
            <p:cNvGrpSpPr/>
            <p:nvPr/>
          </p:nvGrpSpPr>
          <p:grpSpPr>
            <a:xfrm>
              <a:off x="1595438" y="1285861"/>
              <a:ext cx="5072066" cy="4886325"/>
              <a:chOff x="1595438" y="1285861"/>
              <a:chExt cx="5072066" cy="4886325"/>
            </a:xfrm>
          </p:grpSpPr>
          <p:pic>
            <p:nvPicPr>
              <p:cNvPr id="5122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595438" y="1285861"/>
                <a:ext cx="5072066" cy="4886325"/>
              </a:xfrm>
              <a:prstGeom prst="rect">
                <a:avLst/>
              </a:prstGeom>
              <a:ln w="3175" cap="sq">
                <a:solidFill>
                  <a:srgbClr val="C00000"/>
                </a:solidFill>
                <a:prstDash val="dash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F20BE2-C93E-2BA4-E7BD-87E0151A3101}"/>
                  </a:ext>
                </a:extLst>
              </p:cNvPr>
              <p:cNvSpPr/>
              <p:nvPr/>
            </p:nvSpPr>
            <p:spPr>
              <a:xfrm>
                <a:off x="2080436" y="5025888"/>
                <a:ext cx="1887460" cy="2322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3024166" y="5258115"/>
                <a:ext cx="1218351" cy="217358"/>
                <a:chOff x="7112982" y="5575010"/>
                <a:chExt cx="1218351" cy="217358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7F20BE2-C93E-2BA4-E7BD-87E0151A3101}"/>
                    </a:ext>
                  </a:extLst>
                </p:cNvPr>
                <p:cNvSpPr/>
                <p:nvPr/>
              </p:nvSpPr>
              <p:spPr>
                <a:xfrm>
                  <a:off x="7112982" y="5575011"/>
                  <a:ext cx="1218351" cy="2173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000" b="1" dirty="0">
                      <a:solidFill>
                        <a:schemeClr val="tx1"/>
                      </a:solidFill>
                    </a:rPr>
                    <a:t>printDataFields </a:t>
                  </a:r>
                  <a:r>
                    <a:rPr lang="en-US" sz="1000" dirty="0">
                      <a:solidFill>
                        <a:schemeClr val="tx1"/>
                      </a:solidFill>
                    </a:rPr>
                    <a:t>() {</a:t>
                  </a:r>
                  <a:endParaRPr lang="en-US" sz="1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7112982" y="5575010"/>
                  <a:ext cx="1107382" cy="217358"/>
                </a:xfrm>
                <a:prstGeom prst="rect">
                  <a:avLst/>
                </a:prstGeom>
                <a:solidFill>
                  <a:schemeClr val="accent1">
                    <a:alpha val="0"/>
                  </a:schemeClr>
                </a:solidFill>
                <a:ln w="28575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C011A30-7E54-1272-C953-421F3EDCFE06}"/>
                </a:ext>
              </a:extLst>
            </p:cNvPr>
            <p:cNvSpPr/>
            <p:nvPr/>
          </p:nvSpPr>
          <p:spPr>
            <a:xfrm>
              <a:off x="2128202" y="2228776"/>
              <a:ext cx="555646" cy="672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10380" y="1362078"/>
            <a:ext cx="3643338" cy="2352675"/>
          </a:xfrm>
          <a:prstGeom prst="rect">
            <a:avLst/>
          </a:prstGeom>
          <a:ln w="3175" cap="sq">
            <a:solidFill>
              <a:srgbClr val="C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Rectangle 24"/>
          <p:cNvSpPr/>
          <p:nvPr/>
        </p:nvSpPr>
        <p:spPr>
          <a:xfrm>
            <a:off x="3024166" y="4214818"/>
            <a:ext cx="571504" cy="214314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524760" y="2643182"/>
            <a:ext cx="2071822" cy="357190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810380" y="3786190"/>
            <a:ext cx="3643338" cy="1338828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en-US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 calling of the method can be made by the object name only as in line </a:t>
            </a:r>
            <a:r>
              <a:rPr lang="en-US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6 and 7 in the </a:t>
            </a:r>
            <a:r>
              <a:rPr lang="en-US" b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Newmain</a:t>
            </a:r>
            <a:r>
              <a:rPr lang="en-US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class </a:t>
            </a:r>
            <a:endParaRPr lang="en-US" dirty="0"/>
          </a:p>
        </p:txBody>
      </p:sp>
      <p:cxnSp>
        <p:nvCxnSpPr>
          <p:cNvPr id="39" name="Elbow Connector 38"/>
          <p:cNvCxnSpPr>
            <a:endCxn id="27" idx="1"/>
          </p:cNvCxnSpPr>
          <p:nvPr/>
        </p:nvCxnSpPr>
        <p:spPr>
          <a:xfrm flipV="1">
            <a:off x="3667108" y="2821777"/>
            <a:ext cx="3857652" cy="146448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5595233" y="4286256"/>
            <a:ext cx="702" cy="108053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671DF5-48E3-4D79-ACE7-21FC8E6BF122}" type="slidenum">
              <a:rPr lang="ar-JO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ar-JO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8C62966-B35D-4E88-B001-9B463DAE26D5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Different Examples of Direct Calling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1CE7BC92-407B-4800-BBC0-BFEC024A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8" name="Straight Connector 47"/>
          <p:cNvCxnSpPr>
            <a:stCxn id="18" idx="3"/>
          </p:cNvCxnSpPr>
          <p:nvPr/>
        </p:nvCxnSpPr>
        <p:spPr>
          <a:xfrm flipV="1">
            <a:off x="4242517" y="5366794"/>
            <a:ext cx="1352716" cy="1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7F20BE2-C93E-2BA4-E7BD-87E0151A3101}"/>
              </a:ext>
            </a:extLst>
          </p:cNvPr>
          <p:cNvSpPr/>
          <p:nvPr/>
        </p:nvSpPr>
        <p:spPr>
          <a:xfrm>
            <a:off x="8638308" y="2846959"/>
            <a:ext cx="653473" cy="134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F20BE2-C93E-2BA4-E7BD-87E0151A3101}"/>
              </a:ext>
            </a:extLst>
          </p:cNvPr>
          <p:cNvSpPr/>
          <p:nvPr/>
        </p:nvSpPr>
        <p:spPr>
          <a:xfrm>
            <a:off x="8530343" y="2809669"/>
            <a:ext cx="1218351" cy="217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printDataFields ();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363722" y="1190060"/>
                <a:ext cx="10990078" cy="3132557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Add a method to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𝐶𝑖𝑟𝑐𝑙𝑒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class with a name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𝑐𝑖𝑟𝑐𝑢𝑚𝑓𝑒𝑟𝑒𝑛𝑐𝑒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to calculate the circumference of the circle given that it is calculated by the following formula: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𝑐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2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𝜋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𝑟</m:t>
                      </m:r>
                    </m:oMath>
                  </m:oMathPara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where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3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14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𝑟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the radius of the circle. 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Call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𝑐𝑖𝑟𝑐𝑢𝑚𝑓𝑒𝑟𝑒𝑛𝑐𝑒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method for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𝑜𝑏𝑗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200" b="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previous example.</a:t>
                </a:r>
                <a:endParaRPr lang="ar-JO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22" y="1190060"/>
                <a:ext cx="10990078" cy="3132557"/>
              </a:xfrm>
              <a:prstGeom prst="rect">
                <a:avLst/>
              </a:prstGeom>
              <a:blipFill>
                <a:blip r:embed="rId2"/>
                <a:stretch>
                  <a:fillRect l="-610" r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4ED7AF77-D4EA-4864-83D9-6EEE6B36189F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Question 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7AD1047-2D79-416B-AE58-12D0C5FB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6103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576027" y="1003504"/>
            <a:ext cx="10344521" cy="2296411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Every class in Java is descended from the </a:t>
            </a:r>
            <a:r>
              <a:rPr lang="en-US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java.lang.Object</a:t>
            </a:r>
            <a:r>
              <a:rPr lang="en-US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class. </a:t>
            </a:r>
          </a:p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(Object) class has several methods, (toString) method is one of them.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method normally returns the data fields of a class in (String) format. </a:t>
            </a:r>
          </a:p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signature of this method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853520" y="3299915"/>
                <a:ext cx="3286148" cy="128432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𝒑𝒖𝒃𝒍𝒊𝒄</m:t>
                      </m:r>
                      <m:r>
                        <a:rPr lang="en-US" sz="19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sz="19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𝑺𝒕𝒓𝒊𝒏𝒈</m:t>
                      </m:r>
                      <m:r>
                        <a:rPr lang="en-US" sz="19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sz="1900" b="1" i="1" dirty="0" err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𝒕𝒐𝑺𝒕𝒓𝒊𝒏𝒈</m:t>
                      </m:r>
                      <m:r>
                        <a:rPr lang="en-US" sz="19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()</m:t>
                      </m:r>
                    </m:oMath>
                  </m:oMathPara>
                </a14:m>
                <a:endParaRPr lang="en-US" sz="1900" b="1" i="1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 {</m:t>
                      </m:r>
                    </m:oMath>
                  </m:oMathPara>
                </a14:m>
                <a:endParaRPr lang="en-US" sz="1900" b="1" i="0" dirty="0">
                  <a:solidFill>
                    <a:srgbClr val="C00000"/>
                  </a:solidFill>
                  <a:latin typeface="+mj-lt"/>
                  <a:cs typeface="Times New Roman" pitchFamily="18" charset="0"/>
                </a:endParaRPr>
              </a:p>
              <a:p>
                <a:pPr algn="l"/>
                <a:endParaRPr lang="en-US" sz="1900" b="1" dirty="0">
                  <a:solidFill>
                    <a:srgbClr val="C00000"/>
                  </a:solidFill>
                  <a:latin typeface="+mj-lt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}</m:t>
                      </m:r>
                    </m:oMath>
                  </m:oMathPara>
                </a14:m>
                <a:endParaRPr lang="en-US" sz="19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520" y="3299915"/>
                <a:ext cx="3286148" cy="1284325"/>
              </a:xfrm>
              <a:prstGeom prst="rect">
                <a:avLst/>
              </a:prstGeom>
              <a:blipFill>
                <a:blip r:embed="rId2"/>
                <a:stretch>
                  <a:fillRect b="-3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66CC4C2-F120-4BA4-A2C7-B8E1D9262007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Method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C1869CF4-3AB5-43E2-833D-E830EF2F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38" y="1119202"/>
            <a:ext cx="6643734" cy="5167318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3452794" y="5214950"/>
            <a:ext cx="5572164" cy="71438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E4EDBB-5BA5-41DC-88AB-DDDC0C9A8B82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Method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F2FF611-A66A-4142-BC02-B183A04F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2166910" y="1071546"/>
            <a:ext cx="800105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7"/>
          <p:cNvGrpSpPr/>
          <p:nvPr/>
        </p:nvGrpSpPr>
        <p:grpSpPr>
          <a:xfrm>
            <a:off x="1666844" y="1071546"/>
            <a:ext cx="4286280" cy="5214974"/>
            <a:chOff x="642910" y="1119202"/>
            <a:chExt cx="5143536" cy="5167318"/>
          </a:xfrm>
        </p:grpSpPr>
        <p:pic>
          <p:nvPicPr>
            <p:cNvPr id="3891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42910" y="1119202"/>
              <a:ext cx="5143536" cy="5167318"/>
            </a:xfrm>
            <a:prstGeom prst="rect">
              <a:avLst/>
            </a:prstGeom>
            <a:ln w="3175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1357290" y="5214950"/>
              <a:ext cx="4286280" cy="71438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4562" y="1071546"/>
            <a:ext cx="4357718" cy="3143272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6667504" y="2500306"/>
            <a:ext cx="3571900" cy="1357322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24562" y="4357694"/>
            <a:ext cx="4429156" cy="1928826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  <a:prstDash val="sysDash"/>
          </a:ln>
        </p:spPr>
      </p:pic>
      <p:sp>
        <p:nvSpPr>
          <p:cNvPr id="12" name="TextBox 11"/>
          <p:cNvSpPr txBox="1"/>
          <p:nvPr/>
        </p:nvSpPr>
        <p:spPr>
          <a:xfrm>
            <a:off x="6024563" y="4345552"/>
            <a:ext cx="934871" cy="369332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C4CCDC5-DD9F-4C2F-BFE7-228E2734C666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Method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3A962D7D-D131-4727-BA29-56D38EC7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97493" y="1066659"/>
            <a:ext cx="10590599" cy="2631490"/>
          </a:xfrm>
          <a:prstGeom prst="rect">
            <a:avLst/>
          </a:prstGeom>
          <a:noFill/>
          <a:ln w="9525">
            <a:noFill/>
            <a:prstDash val="lg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 you can see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 line 19 (in the circle class)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the </a:t>
            </a:r>
            <a:r>
              <a:rPr lang="en-US" sz="22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toString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 method returns the values of the data fields (radius and color) in a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specific format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</a:t>
            </a:r>
          </a:p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 calling of the </a:t>
            </a:r>
            <a:r>
              <a:rPr lang="en-US" sz="22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toString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 method can be made either </a:t>
            </a:r>
            <a:r>
              <a:rPr lang="en-US" sz="2200" b="1" u="sng" dirty="0">
                <a:solidFill>
                  <a:srgbClr val="C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directly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as in line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(8 and line 12) in the main class 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or by </a:t>
            </a:r>
            <a:r>
              <a:rPr lang="en-US" sz="2200" b="1" u="sng" dirty="0">
                <a:solidFill>
                  <a:srgbClr val="C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simply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write the object name only as in line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(10 and 14) in the main class.</a:t>
            </a:r>
            <a:endParaRPr lang="en-US" sz="2200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8CE69A-8ABE-4986-8E45-A057CE3FF9BD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Method: Explanation 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7B6E8DB-B38B-4698-AC49-2389D9E2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2166910" y="1071546"/>
            <a:ext cx="800105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24562" y="1071546"/>
            <a:ext cx="4357718" cy="3071834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6667504" y="2500306"/>
            <a:ext cx="3571900" cy="1357322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1" y="1071546"/>
            <a:ext cx="4429123" cy="5214974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24562" y="4286256"/>
            <a:ext cx="4429156" cy="1857388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  <a:prstDash val="sysDash"/>
          </a:ln>
        </p:spPr>
      </p:pic>
      <p:sp>
        <p:nvSpPr>
          <p:cNvPr id="13" name="TextBox 12"/>
          <p:cNvSpPr txBox="1"/>
          <p:nvPr/>
        </p:nvSpPr>
        <p:spPr>
          <a:xfrm>
            <a:off x="5967995" y="4274114"/>
            <a:ext cx="934871" cy="369332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Output: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84B3B3-E830-43B1-8777-2956ADF969B8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Method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C36EB166-9C22-4997-A937-2BB814CE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97493" y="1260655"/>
            <a:ext cx="10048587" cy="3586366"/>
          </a:xfrm>
          <a:prstGeom prst="rect">
            <a:avLst/>
          </a:prstGeom>
          <a:noFill/>
          <a:ln w="9525">
            <a:noFill/>
            <a:prstDash val="lgDash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As you can see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(in the circle class)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the </a:t>
            </a:r>
            <a:r>
              <a:rPr lang="en-US" sz="22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toString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 method does not exist!!</a:t>
            </a:r>
          </a:p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Since the </a:t>
            </a:r>
            <a:r>
              <a:rPr lang="en-US" sz="22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toString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 method is </a:t>
            </a:r>
            <a:r>
              <a:rPr lang="en-US" sz="22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overridden </a:t>
            </a: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from the (Object) class, if you did not write the method code in the class, no error could occur when invoking it in another class. </a:t>
            </a:r>
          </a:p>
          <a:p>
            <a:pPr marL="342900" indent="-34290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 printout will be the class name and the hexadecimal memory address where the object is stored.</a:t>
            </a:r>
          </a:p>
          <a:p>
            <a:pPr algn="just" rtl="0"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Override is one of the OOP concepts and will be discussed later in detail.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D7AF77-D4EA-4864-83D9-6EEE6B36189F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Method: Explanation 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7AD1047-2D79-416B-AE58-12D0C5FB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363722" y="1190059"/>
                <a:ext cx="10990078" cy="4827563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Design the class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𝐸𝑚𝑝𝑙𝑜𝑦𝑒𝑒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that has (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𝑛𝑎𝑚𝑒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𝑏𝑎𝑠𝑖𝑐𝑆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𝑎𝑙𝑎𝑟𝑦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𝑗𝑜𝑏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and,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𝑔𝑒𝑛𝑑𝑒𝑟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) as its attributes, and has the following:</a:t>
                </a:r>
              </a:p>
              <a:p>
                <a:pPr marL="10668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Constructors: all the possible constructors ( try to use this and this() reference).</a:t>
                </a:r>
              </a:p>
              <a:p>
                <a:pPr marL="10668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𝑡𝑜𝑆𝑡𝑟𝑖𝑛𝑔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method.</a:t>
                </a:r>
              </a:p>
              <a:p>
                <a:pPr marL="10668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𝑛𝑒𝑡𝑆𝑎𝑙𝑎𝑟𝑦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𝑑𝑜𝑢𝑏𝑙𝑒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𝑑𝑜𝑢𝑏𝑙𝑒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method to calculate and return the net salary of the employee using the formula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𝑛𝑒𝑡𝑆𝑎𝑙𝑎𝑟𝑦</m:t>
                    </m:r>
                    <m:r>
                      <a:rPr lang="en-US" sz="22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 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𝑏𝑎𝑠𝑖𝑐𝑆𝑎𝑙𝑎𝑟𝑦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+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−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𝑑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the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allowances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𝑑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the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discounts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10668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In the main method, create 4 objects of the class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𝐸𝑚𝑝𝑙𝑜𝑦𝑒𝑒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using different constructors and call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𝑡𝑜𝑠𝑡𝑟𝑖𝑛𝑔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() 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method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itchFamily="18" charset="0"/>
                      </a:rPr>
                      <m:t>𝑛𝑒𝑡𝑆𝑎𝑙𝑎𝑟𝑦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method for all created objects.</a:t>
                </a:r>
                <a:endParaRPr lang="ar-JO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22" y="1190059"/>
                <a:ext cx="10990078" cy="4827563"/>
              </a:xfrm>
              <a:prstGeom prst="rect">
                <a:avLst/>
              </a:prstGeom>
              <a:blipFill>
                <a:blip r:embed="rId2"/>
                <a:stretch>
                  <a:fillRect l="-610" r="-721" b="-7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4ED7AF77-D4EA-4864-83D9-6EEE6B36189F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Question 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7AD1047-2D79-416B-AE58-12D0C5FB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248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ZU -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 - Theme" id="{25897C2A-563F-4EEE-98A8-BE7B6DDDF5FB}" vid="{7102B1C6-D57E-4303-8E16-CF7DA832BB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ZU - Theme</Template>
  <TotalTime>8624</TotalTime>
  <Words>1171</Words>
  <Application>Microsoft Office PowerPoint</Application>
  <PresentationFormat>Widescreen</PresentationFormat>
  <Paragraphs>182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Wingdings</vt:lpstr>
      <vt:lpstr>ZU - Theme</vt:lpstr>
      <vt:lpstr>Picture</vt:lpstr>
      <vt:lpstr>Computer Programming 2</vt:lpstr>
      <vt:lpstr>Chapter Two Object-Oriented Programming (OOP) Concept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6242</dc:creator>
  <cp:lastModifiedBy>Hebatullah Awwad</cp:lastModifiedBy>
  <cp:revision>313</cp:revision>
  <cp:lastPrinted>2024-03-05T01:39:29Z</cp:lastPrinted>
  <dcterms:created xsi:type="dcterms:W3CDTF">2022-10-20T07:12:26Z</dcterms:created>
  <dcterms:modified xsi:type="dcterms:W3CDTF">2024-03-19T11:50:28Z</dcterms:modified>
</cp:coreProperties>
</file>